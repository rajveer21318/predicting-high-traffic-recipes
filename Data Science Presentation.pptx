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1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35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078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10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5522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5946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051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12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493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4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01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9090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081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13529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708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061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620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95B10-3D70-49D7-A602-4E4036396056}" type="datetimeFigureOut">
              <a:rPr lang="en-GB" smtClean="0"/>
              <a:t>16/06/2026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D2706CB-001C-40C3-9087-B49117DCB6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386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9F08-8364-54E5-1FCC-C1F2E7C12B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0733" y="649480"/>
            <a:ext cx="9530534" cy="84631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Optimization of High-traffic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2C2B55-67DF-5AF7-2CC7-741954791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731" y="1965132"/>
            <a:ext cx="4422538" cy="2572293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A894A6-B907-8BFD-7EA4-9D7C11108BD3}"/>
              </a:ext>
            </a:extLst>
          </p:cNvPr>
          <p:cNvSpPr txBox="1"/>
          <p:nvPr/>
        </p:nvSpPr>
        <p:spPr>
          <a:xfrm>
            <a:off x="3181884" y="5084357"/>
            <a:ext cx="582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Data Scientist Presentation by Rajveer Singh</a:t>
            </a:r>
          </a:p>
        </p:txBody>
      </p:sp>
    </p:spTree>
    <p:extLst>
      <p:ext uri="{BB962C8B-B14F-4D97-AF65-F5344CB8AC3E}">
        <p14:creationId xmlns:p14="http://schemas.microsoft.com/office/powerpoint/2010/main" val="2223957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3864-CB6E-1D18-7666-6BF2DBC19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61740"/>
            <a:ext cx="8911687" cy="1280890"/>
          </a:xfrm>
        </p:spPr>
        <p:txBody>
          <a:bodyPr/>
          <a:lstStyle/>
          <a:p>
            <a:pPr algn="ctr"/>
            <a:r>
              <a:rPr lang="en-GB" dirty="0"/>
              <a:t>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49CD9-A192-5537-C4C5-9FE119DDEB7F}"/>
              </a:ext>
            </a:extLst>
          </p:cNvPr>
          <p:cNvSpPr txBox="1"/>
          <p:nvPr/>
        </p:nvSpPr>
        <p:spPr>
          <a:xfrm>
            <a:off x="2558040" y="1976050"/>
            <a:ext cx="832360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dirty="0"/>
              <a:t>Current challenge:</a:t>
            </a:r>
          </a:p>
          <a:p>
            <a:pPr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Homepage recipes are currently selected manually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Popular recipes can increase site traffic by up to 40%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More traffic can lead to more subscriptions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None/>
            </a:pPr>
            <a:r>
              <a:rPr lang="en-GB" dirty="0"/>
              <a:t>Business questions:</a:t>
            </a:r>
          </a:p>
          <a:p>
            <a:pPr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Can we predict which recipes will lead to high traffic?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Can we correctly identify high-traffic recipes at least 80% of the time?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1896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E2E9C-1F84-DC77-22C4-D01772452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36102"/>
            <a:ext cx="8911687" cy="666305"/>
          </a:xfrm>
        </p:spPr>
        <p:txBody>
          <a:bodyPr/>
          <a:lstStyle/>
          <a:p>
            <a:pPr algn="ctr"/>
            <a:r>
              <a:rPr lang="en-GB" dirty="0"/>
              <a:t>Data and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20B1B-B9D5-50E0-E95B-8C0AE70D9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8578" y="3837062"/>
            <a:ext cx="2042445" cy="2783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400" dirty="0"/>
              <a:t>Dataset included:</a:t>
            </a:r>
          </a:p>
          <a:p>
            <a:r>
              <a:rPr lang="en-GB" sz="1400" dirty="0"/>
              <a:t>Calories</a:t>
            </a:r>
          </a:p>
          <a:p>
            <a:r>
              <a:rPr lang="en-GB" sz="1400" dirty="0"/>
              <a:t>Carbohydrate</a:t>
            </a:r>
          </a:p>
          <a:p>
            <a:r>
              <a:rPr lang="en-GB" sz="1400" dirty="0"/>
              <a:t>Sugar</a:t>
            </a:r>
          </a:p>
          <a:p>
            <a:r>
              <a:rPr lang="en-GB" sz="1400" dirty="0"/>
              <a:t>Protein</a:t>
            </a:r>
          </a:p>
          <a:p>
            <a:r>
              <a:rPr lang="en-GB" sz="1400" dirty="0"/>
              <a:t>Category</a:t>
            </a:r>
          </a:p>
          <a:p>
            <a:r>
              <a:rPr lang="en-GB" sz="1400" dirty="0"/>
              <a:t>Servings</a:t>
            </a:r>
          </a:p>
          <a:p>
            <a:r>
              <a:rPr lang="en-GB" sz="1400" dirty="0"/>
              <a:t>High traffic</a:t>
            </a:r>
          </a:p>
          <a:p>
            <a:endParaRPr lang="en-GB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D18A4-760F-8D53-44CB-322B27EEE7A5}"/>
              </a:ext>
            </a:extLst>
          </p:cNvPr>
          <p:cNvSpPr txBox="1"/>
          <p:nvPr/>
        </p:nvSpPr>
        <p:spPr>
          <a:xfrm>
            <a:off x="3777242" y="1812472"/>
            <a:ext cx="535804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cleaning: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 duplicate rows found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Removed extreme outliers in nutritional columns using the IQR rule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Imputed remaining missing numerical values with the median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Standardised category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Cleaned servings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Converted </a:t>
            </a:r>
            <a:r>
              <a:rPr lang="en-GB" dirty="0" err="1"/>
              <a:t>high_traffic</a:t>
            </a:r>
            <a:r>
              <a:rPr lang="en-GB" dirty="0"/>
              <a:t> into a binary target variable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201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89F9F-2C0C-3925-CA36-5894A75BA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2621" y="106822"/>
            <a:ext cx="4628271" cy="734671"/>
          </a:xfrm>
        </p:spPr>
        <p:txBody>
          <a:bodyPr/>
          <a:lstStyle/>
          <a:p>
            <a:r>
              <a:rPr lang="en-GB" dirty="0"/>
              <a:t>Exploratory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28C98-351A-F581-6D4E-4C3752BDE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6595" y="935497"/>
            <a:ext cx="8520322" cy="27887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Key findings: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Nutritional variables were strongly right-skewed</a:t>
            </a:r>
          </a:p>
          <a:p>
            <a:r>
              <a:rPr lang="en-GB" dirty="0"/>
              <a:t>Most recipes had relatively low nutritional values with a long tail of larger values</a:t>
            </a:r>
          </a:p>
          <a:p>
            <a:r>
              <a:rPr lang="en-GB" dirty="0"/>
              <a:t>60.1% of recipes were labelled high traffic</a:t>
            </a:r>
          </a:p>
          <a:p>
            <a:r>
              <a:rPr lang="en-GB" dirty="0"/>
              <a:t>The target variable was reasonably balanced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66796-2B22-C1B9-3EA8-81C2F802B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109" y="3627594"/>
            <a:ext cx="4026234" cy="2967155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D369D2-C3BE-5B4C-5677-53A408E8D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416" y="3895116"/>
            <a:ext cx="3717584" cy="2699633"/>
          </a:xfrm>
          <a:prstGeom prst="rect">
            <a:avLst/>
          </a:prstGeom>
          <a:effectLst>
            <a:softEdge rad="12700"/>
          </a:effectLst>
        </p:spPr>
      </p:pic>
    </p:spTree>
    <p:extLst>
      <p:ext uri="{BB962C8B-B14F-4D97-AF65-F5344CB8AC3E}">
        <p14:creationId xmlns:p14="http://schemas.microsoft.com/office/powerpoint/2010/main" val="3456918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9D640-2D00-8978-0CF5-E7E11E9A0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744" y="160698"/>
            <a:ext cx="6072511" cy="717580"/>
          </a:xfrm>
        </p:spPr>
        <p:txBody>
          <a:bodyPr/>
          <a:lstStyle/>
          <a:p>
            <a:r>
              <a:rPr lang="en-GB" dirty="0"/>
              <a:t>Key drivers of high traffic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0DFC6-F15B-EB8D-DFF6-177D87F3A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9552" y="1098846"/>
            <a:ext cx="8477592" cy="354935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Statistical findings:</a:t>
            </a:r>
          </a:p>
          <a:p>
            <a:r>
              <a:rPr lang="en-GB" dirty="0"/>
              <a:t>Weak correlations between nutritional variables</a:t>
            </a:r>
          </a:p>
          <a:p>
            <a:r>
              <a:rPr lang="en-GB" dirty="0"/>
              <a:t>Mann-Whitney U tests showed calories and protein were significantly different between high- and low-traffic recipes</a:t>
            </a:r>
          </a:p>
          <a:p>
            <a:r>
              <a:rPr lang="en-GB" dirty="0"/>
              <a:t>Chi-square testing showed category was significantly associated with high traffic</a:t>
            </a:r>
          </a:p>
          <a:p>
            <a:pPr marL="0" indent="0">
              <a:buNone/>
            </a:pPr>
            <a:r>
              <a:rPr lang="en-GB" dirty="0"/>
              <a:t>Most important predictors:</a:t>
            </a:r>
          </a:p>
          <a:p>
            <a:r>
              <a:rPr lang="en-GB" dirty="0"/>
              <a:t>Category was the strongest overall predictor</a:t>
            </a:r>
          </a:p>
          <a:p>
            <a:r>
              <a:rPr lang="en-GB" dirty="0"/>
              <a:t>Calories and protein were the strongest numerical predictors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98139-AC0D-2CF2-6FB0-1602105EE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160" y="4511760"/>
            <a:ext cx="2974146" cy="23462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0856E5-42F6-9AEE-005D-145F69EDD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7124" y="4868767"/>
            <a:ext cx="3423010" cy="142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736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8A8A-4746-A453-FEB3-86DB9DE0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9225" y="495923"/>
            <a:ext cx="4773550" cy="632122"/>
          </a:xfrm>
        </p:spPr>
        <p:txBody>
          <a:bodyPr>
            <a:normAutofit fontScale="90000"/>
          </a:bodyPr>
          <a:lstStyle/>
          <a:p>
            <a:r>
              <a:rPr lang="en-GB" dirty="0"/>
              <a:t>Model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F7D4A-230B-7547-EA01-D685DBA56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540189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Problem type</a:t>
            </a:r>
          </a:p>
          <a:p>
            <a:r>
              <a:rPr lang="en-GB" dirty="0"/>
              <a:t>Binary classification</a:t>
            </a:r>
          </a:p>
          <a:p>
            <a:pPr marL="0" indent="0">
              <a:buNone/>
            </a:pPr>
            <a:r>
              <a:rPr lang="en-GB" b="1" dirty="0"/>
              <a:t>Models used</a:t>
            </a:r>
          </a:p>
          <a:p>
            <a:r>
              <a:rPr lang="en-GB" dirty="0"/>
              <a:t>Baseline: Logistic Regression</a:t>
            </a:r>
          </a:p>
          <a:p>
            <a:r>
              <a:rPr lang="en-GB" dirty="0"/>
              <a:t>Comparison: Tuned Random Forest</a:t>
            </a:r>
          </a:p>
          <a:p>
            <a:pPr marL="0" indent="0">
              <a:buNone/>
            </a:pPr>
            <a:r>
              <a:rPr lang="en-GB" b="1" dirty="0"/>
              <a:t>Why these models?</a:t>
            </a:r>
          </a:p>
          <a:p>
            <a:r>
              <a:rPr lang="en-GB" dirty="0"/>
              <a:t>Logistic regression is simple and interpretable</a:t>
            </a:r>
          </a:p>
          <a:p>
            <a:r>
              <a:rPr lang="en-GB" dirty="0"/>
              <a:t>Random forest captures more complex patterns</a:t>
            </a:r>
          </a:p>
          <a:p>
            <a:r>
              <a:rPr lang="en-GB" dirty="0"/>
              <a:t>Comparing both tested whether added complexity improved performance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1048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1595-2E79-0D7E-03CF-8BCA8EF92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1925" y="504469"/>
            <a:ext cx="3577138" cy="615030"/>
          </a:xfrm>
        </p:spPr>
        <p:txBody>
          <a:bodyPr>
            <a:normAutofit fontScale="90000"/>
          </a:bodyPr>
          <a:lstStyle/>
          <a:p>
            <a:r>
              <a:rPr lang="en-GB" dirty="0"/>
              <a:t>Model Results: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979AF-E36A-EA29-F2E5-9C7BFC088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850" y="1203097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Key result:</a:t>
            </a:r>
          </a:p>
          <a:p>
            <a:r>
              <a:rPr lang="en-GB" dirty="0"/>
              <a:t>Both models achieved the same accuracy</a:t>
            </a:r>
          </a:p>
          <a:p>
            <a:r>
              <a:rPr lang="en-GB" dirty="0"/>
              <a:t>Logistic regression performed slightly better on ROC AUC and precision</a:t>
            </a:r>
          </a:p>
          <a:p>
            <a:r>
              <a:rPr lang="en-GB" dirty="0"/>
              <a:t>Logistic regression exceeded the business target of 80%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322C7-DF5C-0633-E06E-2954CC446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014" y="5939796"/>
            <a:ext cx="2466975" cy="752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B46341-AD84-4036-7BB6-2A6C014F5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230" y="5939795"/>
            <a:ext cx="2473890" cy="7524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E1889E7-76F2-FF93-FC48-B1280230E28B}"/>
              </a:ext>
            </a:extLst>
          </p:cNvPr>
          <p:cNvSpPr txBox="1"/>
          <p:nvPr/>
        </p:nvSpPr>
        <p:spPr>
          <a:xfrm>
            <a:off x="7802319" y="3244334"/>
            <a:ext cx="2271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Logistic Regression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6F59E5-7A5E-A899-8BCE-CFDC08DBDA61}"/>
              </a:ext>
            </a:extLst>
          </p:cNvPr>
          <p:cNvSpPr txBox="1"/>
          <p:nvPr/>
        </p:nvSpPr>
        <p:spPr>
          <a:xfrm>
            <a:off x="1595258" y="3244334"/>
            <a:ext cx="3076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Random Forest Classifier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BE1988-D2BA-7EAE-F423-F3681DD31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232" y="3613666"/>
            <a:ext cx="3575885" cy="23113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1C59B7-831E-A01A-BB2B-2ADB272F9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199" y="3613666"/>
            <a:ext cx="3455367" cy="218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45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1FA32-2C2F-12DF-EF49-78C2AC725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7807307" cy="683397"/>
          </a:xfrm>
        </p:spPr>
        <p:txBody>
          <a:bodyPr/>
          <a:lstStyle/>
          <a:p>
            <a:r>
              <a:rPr lang="en-GB" dirty="0"/>
              <a:t>Recommendation and conclusion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0CFB0-8BCB-05B5-182B-1774AD8D6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6644" y="1954139"/>
            <a:ext cx="8915400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Recommendation</a:t>
            </a:r>
          </a:p>
          <a:p>
            <a:r>
              <a:rPr lang="en-GB" dirty="0"/>
              <a:t>Deploy the Logistic Regression model as a decision-support tool</a:t>
            </a:r>
          </a:p>
          <a:p>
            <a:r>
              <a:rPr lang="en-GB" dirty="0"/>
              <a:t>Use it to rank candidate homepage recipes by predicted probability of high traffic</a:t>
            </a:r>
          </a:p>
          <a:p>
            <a:r>
              <a:rPr lang="en-GB" dirty="0"/>
              <a:t>Prioritise strong-performing categories such as Vegetable and Potato</a:t>
            </a:r>
          </a:p>
          <a:p>
            <a:r>
              <a:rPr lang="en-GB" dirty="0"/>
              <a:t>Monitor precision over time after deployment</a:t>
            </a:r>
          </a:p>
          <a:p>
            <a:pPr marL="0" indent="0">
              <a:buNone/>
            </a:pPr>
            <a:r>
              <a:rPr lang="en-GB" b="1" dirty="0"/>
              <a:t>Conclusion</a:t>
            </a:r>
          </a:p>
          <a:p>
            <a:r>
              <a:rPr lang="en-GB" dirty="0"/>
              <a:t>High-traffic recipes can be predicted</a:t>
            </a:r>
          </a:p>
          <a:p>
            <a:r>
              <a:rPr lang="en-GB" dirty="0"/>
              <a:t>The 80% target was achieved</a:t>
            </a:r>
          </a:p>
          <a:p>
            <a:r>
              <a:rPr lang="en-GB" dirty="0"/>
              <a:t>A simple, interpretable model is sufficient for the current business need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592063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9998</TotalTime>
  <Words>355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Optimization of High-traffic</vt:lpstr>
      <vt:lpstr>Project Overview</vt:lpstr>
      <vt:lpstr>Data and preparation</vt:lpstr>
      <vt:lpstr>Exploratory analysis</vt:lpstr>
      <vt:lpstr>Key drivers of high traffic</vt:lpstr>
      <vt:lpstr>Model development</vt:lpstr>
      <vt:lpstr>Model Results: </vt:lpstr>
      <vt:lpstr>Recommendation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Rajveer Singh</dc:creator>
  <cp:lastModifiedBy>Rajveer Singh</cp:lastModifiedBy>
  <cp:revision>2</cp:revision>
  <dcterms:created xsi:type="dcterms:W3CDTF">2026-06-16T19:59:46Z</dcterms:created>
  <dcterms:modified xsi:type="dcterms:W3CDTF">2026-06-23T18:37:50Z</dcterms:modified>
</cp:coreProperties>
</file>